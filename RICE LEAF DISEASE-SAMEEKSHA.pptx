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B05BF-0065-4657-9268-D9E70E7ED108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A72CC-2ACF-44E6-B21B-7880C881E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02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A72CC-2ACF-44E6-B21B-7880C881EA8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14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A72CC-2ACF-44E6-B21B-7880C881EA8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59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08DA-B389-AB62-F407-469FBF321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4D8C9-D1B2-BD20-394E-30BF3A5FF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968FD-7E40-C8AC-C0E8-B6FDA43B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5508D-026A-E5D1-0AB8-765DE171C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76132-0944-3E93-EF4F-57FE3B23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07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0A534-1C4E-3673-E4A0-2B5B3C08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2F4AB-A219-255C-F019-2991B341B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11065-4507-3739-B5A4-A0170E729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75F98-EC32-462D-ADE7-89C97A38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A6A66-0696-7CBB-182E-632EB86A3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92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B936-30E2-9FAA-1588-CC80B490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7FC3F-A882-1F0B-02B5-B9B16C09A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E2AE7-DE3A-0E77-0341-6912AD9B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5201-7D5D-085B-80EB-A792E820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E5E85-43A9-A40C-6207-D795065F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5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878C9-2C98-1B7C-BBEE-2F4AAB93F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02308-FEFA-9891-B80A-5EAE3AC197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D7441-D610-921B-1963-CE02F4F78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33839-E00A-E6E8-2551-9BEB57BE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8D5E4-E7C6-3E2B-C261-4B29F86A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74B8-B8E2-43ED-7030-8706D8A7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FACE-601E-1839-BAF8-7BBBD393B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17F52-48FF-CA3D-97CA-3F9269917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BDCB5-9370-09AB-AAD6-60758FC67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60A5E-8910-DB58-419E-257AED992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74C53F-593C-6412-CAEB-C468BD06F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0F8906-DAF7-599F-EB72-964E20FAF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ECBAA-538E-6088-9049-2D4DAEB75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02F8C-A0DD-D88D-4364-43B51573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8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3C7F-7E81-5CFB-AA13-D0D216912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7FFFC-9E22-F055-91FC-3EB23932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0674C-A40C-35EC-9283-341C6663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5A9C2-32D2-CDDF-5DA0-51A449F2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83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D96DF3-9463-B1B5-B362-305D0AFE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748BE-4006-420C-8283-3A2D3B39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E9976-7AF3-3F9F-8CC2-93905E52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3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D60D-42D1-5C49-17A7-2BCB5C1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5B0E3-901B-55C4-AC43-CAD1272AA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E735D-309A-7932-24B3-CA9FB4309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C693E-96EA-58C1-C9AE-F7404654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D8274-063E-2CDC-368E-37DE401F2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104F8-9B44-06D8-7E12-0DD3A2B5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2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989BB-226F-527D-38E4-9AEE9EA7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A3A52-E748-7BE7-E055-8CEAD33E3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D9792-232A-18BB-AE4F-2A54F1900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43036-A2B2-D57D-EDA1-C5225632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8CD52-792B-8632-D624-C68A814B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9B940-7E80-0012-6320-3698A442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24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2C43-F852-4277-5CE9-A51A0D2D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CF67C-5E3F-1E87-1049-906A0C2E3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47781-A342-931E-9177-805E15EB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23F94-5380-0FF8-8344-2D327780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C849C-5559-B024-F32B-B94E40D7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5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E9B353-9EA3-0B7F-D4F0-A3FD05FEB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C33B3-6178-DEEE-D955-BFA6CC686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62299-CA46-8C06-A5B0-26C608ED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1228B-DB00-BC51-CE83-C95602E6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F0866-C0B3-7E88-ED1A-8BE60F4A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1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C10BA-BEDB-020F-507D-BD6E63356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06E90-2B80-6225-8AB1-376016271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DDDC3-2CBB-E6FE-AF1C-48616A32B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3D3A9-CDA3-4DB1-AF31-2A83BCC60133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66B01-65A0-3A88-BD5E-35E5194FB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21DC-5516-331E-870F-E3CEFDF5D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0C69E-F328-498D-9CA3-F83191586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3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%2F%2Fd3ilbtxij3aepc.cloudfront.net%2Fprojects%2FCDS-Capstone-Projects%2FPRCP-1001-RiceLeaf.zi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81DD-B49A-1D6A-0F26-2ED2B5881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03" y="614598"/>
            <a:ext cx="11287592" cy="56363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Rice Leaf Disease Detection Using Convolutional Neural Networks (CNN)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                                       </a:t>
            </a:r>
            <a:r>
              <a:rPr lang="en-US" sz="2200" b="1" dirty="0"/>
              <a:t>Data Science Capstone Project – PRCP-1001</a:t>
            </a:r>
            <a:br>
              <a:rPr lang="en-US" sz="2200" dirty="0"/>
            </a:br>
            <a:r>
              <a:rPr lang="en-US" sz="2200" dirty="0"/>
              <a:t>                                                                               </a:t>
            </a:r>
            <a:r>
              <a:rPr lang="en-US" sz="2200" b="1" dirty="0"/>
              <a:t>Submitted By:</a:t>
            </a:r>
            <a:r>
              <a:rPr lang="en-US" sz="2200" dirty="0"/>
              <a:t> Sameeksha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Plant,leaf,military Camouflage - Plant Disease Clipart, HD Png Download , Transparent Png Image - PNGitem">
            <a:extLst>
              <a:ext uri="{FF2B5EF4-FFF2-40B4-BE49-F238E27FC236}">
                <a16:creationId xmlns:a16="http://schemas.microsoft.com/office/drawing/2014/main" id="{3F9E4CFB-AEFA-B8B2-C9AF-392C9A72C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3" y="4017363"/>
            <a:ext cx="4352925" cy="284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9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EB6E-80DF-3298-985E-9FA400F2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AEC9E-EB55-F62C-DDCA-8EEDD0C42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Categories 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Train–Validation–Test Split 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Deep Learning Models (CNN, VGG16 &amp; MobileNetV2)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sz="2400" dirty="0"/>
              <a:t>CNN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2CC0A-D79B-3CCC-0850-D91BB1CA3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2003" y="1792470"/>
            <a:ext cx="5181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Transfer Learning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Challenges Faced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Model Comparison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Best Model Selection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Applications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Future Scope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Conclusion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 Model Output &amp; Predictions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736F9B-876C-53A9-9F4D-6B9253E75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691" y="1948720"/>
            <a:ext cx="1730115" cy="47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72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8F51-F4C1-8928-E651-D4980A9EB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56054-27D9-5617-15DC-DD48FA367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987"/>
            <a:ext cx="11049000" cy="5314013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1.Problem Statement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Rice is one of the world's most important food crops. Diseases affecting rice leaves reduce crop yield and quality, causing significant economic losses.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disease identification is: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agricultural experts 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Prone to human error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2.Project Goal  - 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image classification system using Convolutional Neural Networks (CNN) to automatically detect rice leaf diseases from leaf image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3.Objectives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rice leaf disease dataset 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deep learning classification models 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image augmentation techniques 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CNN models </a:t>
            </a:r>
          </a:p>
          <a:p>
            <a:pPr>
              <a:lnSpc>
                <a:spcPct val="120000"/>
              </a:lnSpc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best-performing model</a:t>
            </a:r>
          </a:p>
          <a:p>
            <a:pPr marL="0" indent="0" algn="just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Plant Disease Detector">
            <a:extLst>
              <a:ext uri="{FF2B5EF4-FFF2-40B4-BE49-F238E27FC236}">
                <a16:creationId xmlns:a16="http://schemas.microsoft.com/office/drawing/2014/main" id="{ED8A751A-7475-E9DF-DA73-84297E6B1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5204" y="4495800"/>
            <a:ext cx="23622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75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3BA6-263A-889A-0EB6-084EC0B6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BA507-19DE-8C12-AC1F-093E415A46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Dataset Information                                                                                                                  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Images: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Classes: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per Class: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Type: Balanced </a:t>
            </a:r>
          </a:p>
          <a:p>
            <a:pPr marL="0" indent="0">
              <a:buNone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Dataset Characteristics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leaf images 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image resolutions 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corrupted images 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class distribution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55F34-9AEE-145B-A2F6-295CC977C7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Disease Categories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Bacterial Leaf Blight 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Brown Spot </a:t>
            </a:r>
          </a:p>
          <a:p>
            <a:pPr>
              <a:lnSpc>
                <a:spcPct val="12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Smut 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4.Challenge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size increases the risk of model overfitting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Dataset Link: 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https://d3ilbtxij3aepc.cloudfront.net/projects/CDS-Capstone-Projects/PRCP-1001-RiceLeaf.zip</a:t>
            </a:r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Rice Leaf Diseases Dataset">
            <a:extLst>
              <a:ext uri="{FF2B5EF4-FFF2-40B4-BE49-F238E27FC236}">
                <a16:creationId xmlns:a16="http://schemas.microsoft.com/office/drawing/2014/main" id="{B8F748E8-F25D-FFDD-8CCA-C0D500E9B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075" y="1"/>
            <a:ext cx="28289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82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DF62-1774-FE72-8739-C0FA079C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DISEASE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86946-3E38-578C-517B-D0B54D2A6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25" y="1558978"/>
            <a:ext cx="10934075" cy="49338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Rice Leaf Disease Classes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1.Bacterial Leaf Blight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yellow or pale streaks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 along leaf veins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2.Brown Spot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circular brown lesions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edges with lighter centers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3.Leaf Smut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Tiny black speckled spots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fungal infection on leaf surface</a:t>
            </a:r>
          </a:p>
          <a:p>
            <a:endParaRPr lang="en-US" dirty="0"/>
          </a:p>
        </p:txBody>
      </p:sp>
      <p:pic>
        <p:nvPicPr>
          <p:cNvPr id="4" name="Picture 3" descr="Sample images from Rice Leaf Disease Dataset: (a) bacterial leaf... |  Download Scientific Diagram">
            <a:extLst>
              <a:ext uri="{FF2B5EF4-FFF2-40B4-BE49-F238E27FC236}">
                <a16:creationId xmlns:a16="http://schemas.microsoft.com/office/drawing/2014/main" id="{D0F00437-A49D-37C3-330C-4A95DABE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762" y="3578902"/>
            <a:ext cx="5816184" cy="280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37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D6E4D-6D32-1970-CF50-F77AEAAE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872D3-7081-8413-B2D4-232C527EE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Pipeline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Dataset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(EDA)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Train–Validation–Test Split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CNN Models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Models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Models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Models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Best Model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Rice Leaf Disease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Rice Blast — hgpennington art">
            <a:extLst>
              <a:ext uri="{FF2B5EF4-FFF2-40B4-BE49-F238E27FC236}">
                <a16:creationId xmlns:a16="http://schemas.microsoft.com/office/drawing/2014/main" id="{77E2E384-DD99-0C96-685F-9459F7016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456" y="3352175"/>
            <a:ext cx="5126636" cy="350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178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693F2-5844-EE3D-C1E2-3EA6203E7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4010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2C2DB-37D0-C783-C9B6-3551511E6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986"/>
            <a:ext cx="10515600" cy="51716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1.Dataset Analysis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detailed dataset analysis before model training.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2.Analysis Performed</a:t>
            </a:r>
          </a:p>
          <a:p>
            <a:pPr>
              <a:lnSpc>
                <a:spcPct val="12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 </a:t>
            </a:r>
          </a:p>
          <a:p>
            <a:pPr>
              <a:lnSpc>
                <a:spcPct val="12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count </a:t>
            </a:r>
          </a:p>
          <a:p>
            <a:pPr>
              <a:lnSpc>
                <a:spcPct val="12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dimensions </a:t>
            </a:r>
          </a:p>
          <a:p>
            <a:pPr>
              <a:lnSpc>
                <a:spcPct val="12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image verification </a:t>
            </a:r>
          </a:p>
          <a:p>
            <a:pPr>
              <a:lnSpc>
                <a:spcPct val="12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image visualization </a:t>
            </a:r>
          </a:p>
          <a:p>
            <a:pPr>
              <a:lnSpc>
                <a:spcPct val="12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Corrupted image detection </a:t>
            </a:r>
          </a:p>
          <a:p>
            <a:pPr>
              <a:lnSpc>
                <a:spcPct val="110000"/>
              </a:lnSpc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3.Findings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dataset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missing images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required resizing 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classes visually distinguishable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8A1E39-4F45-DDFC-6F7A-0D0297CDB9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204" y="2231127"/>
            <a:ext cx="6272796" cy="462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72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0CC74A-05B7-7644-09CA-929E82066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IMAGE PREPROCESSING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092807-18CB-B726-76DC-DE5A8FCA6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5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1.Image Preprocessing Steps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nested ZIP files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images into class folders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all images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 × 224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images into RGB format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pixel values between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images for CNN input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2.Purpose-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clean and standardized dataset for model training.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Image processing based rice plant leaves diseases in Thanjavur, Tamilnadu | Cluster Computing | Springer Nature Link">
            <a:extLst>
              <a:ext uri="{FF2B5EF4-FFF2-40B4-BE49-F238E27FC236}">
                <a16:creationId xmlns:a16="http://schemas.microsoft.com/office/drawing/2014/main" id="{69162D7B-6922-B0CF-C5A0-B0D1FB5D2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289" y="2218544"/>
            <a:ext cx="4173511" cy="32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45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FBF86-93A6-5FDF-7338-8BD069017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902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TRAIN–VALIDATION–TEST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5AC84-70E9-FD3B-27CA-DC3262101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1.Dataset Splitting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2.Why Split the Dataset?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Learn image patterns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Tune model performance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Evaluate final accuracy</a:t>
            </a:r>
          </a:p>
          <a:p>
            <a:endParaRPr lang="en-US" dirty="0"/>
          </a:p>
        </p:txBody>
      </p:sp>
      <p:pic>
        <p:nvPicPr>
          <p:cNvPr id="4" name="Picture 3" descr="Train-Test-Validation Split: A Critical Component of ML">
            <a:extLst>
              <a:ext uri="{FF2B5EF4-FFF2-40B4-BE49-F238E27FC236}">
                <a16:creationId xmlns:a16="http://schemas.microsoft.com/office/drawing/2014/main" id="{9B8558C3-CEAA-5B2F-2699-FEAC9DA2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174" y="2623280"/>
            <a:ext cx="4335046" cy="332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55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7F81-6DC0-BC5C-F40A-6ECF8C5E6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921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0BC17-8BD0-06D6-1F86-0E620753B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046"/>
            <a:ext cx="10515600" cy="52315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1.Why Data Augmentation?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around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 training images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available.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increases image diversity and reduces overfitting.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2.Techniques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 Shift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 Shift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Flip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Rescaling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3.Not Used-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Flip (unrealistic leaf orientation)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2B407-ADDA-A5C8-2474-0B109B386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329" y="2542968"/>
            <a:ext cx="5071672" cy="414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8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347C-F27C-680F-F2F6-95D7605CB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44184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C75CB-0C1B-0B14-630F-C84B65102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538" y="1139253"/>
            <a:ext cx="10649262" cy="571874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Deep Learning Models</a:t>
            </a:r>
          </a:p>
          <a:p>
            <a:pPr marL="0" indent="0">
              <a:buNone/>
            </a:pP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1.Model 1 – CNN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from scratch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model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features directly from training images </a:t>
            </a:r>
          </a:p>
          <a:p>
            <a:pPr marL="0" indent="0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2.Model 2 – VGG16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on ImageNet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model size </a:t>
            </a:r>
          </a:p>
          <a:p>
            <a:pPr marL="0" indent="0">
              <a:buNone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3.Model 3 – MobileNetV2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architecture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prediction 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mobile devices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B694BC-4DF7-4209-38CF-A1C4058E2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44184"/>
            <a:ext cx="6096000" cy="493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47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BD56-B75C-51DA-CE48-8C1C9D2D8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CNN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00F325-DA32-9947-6FE0-3B7B5A723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1" y="1690688"/>
            <a:ext cx="7315200" cy="50657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18169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80DEB-E0E0-D578-9869-3913B63B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9975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TRANSFER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D213F-8D5F-EB70-B1C6-53F25B97F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46" y="1825625"/>
            <a:ext cx="10814154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1.Why Transfer Learning?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contained only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 images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train deep CNNs from scratch.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uses pretrained ImageNet models to improve performance.</a:t>
            </a:r>
          </a:p>
          <a:p>
            <a:pPr marL="0" indent="0">
              <a:buNone/>
            </a:pP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2.Benefits</a:t>
            </a:r>
          </a:p>
          <a:p>
            <a:pPr>
              <a:lnSpc>
                <a:spcPct val="120000"/>
              </a:lnSpc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training </a:t>
            </a:r>
          </a:p>
          <a:p>
            <a:pPr>
              <a:lnSpc>
                <a:spcPct val="120000"/>
              </a:lnSpc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feature extraction </a:t>
            </a:r>
          </a:p>
          <a:p>
            <a:pPr>
              <a:lnSpc>
                <a:spcPct val="120000"/>
              </a:lnSpc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 </a:t>
            </a:r>
          </a:p>
          <a:p>
            <a:pPr>
              <a:lnSpc>
                <a:spcPct val="120000"/>
              </a:lnSpc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overfitting </a:t>
            </a:r>
          </a:p>
          <a:p>
            <a:pPr>
              <a:lnSpc>
                <a:spcPct val="120000"/>
              </a:lnSpc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Used</a:t>
            </a:r>
          </a:p>
          <a:p>
            <a:pPr>
              <a:lnSpc>
                <a:spcPct val="120000"/>
              </a:lnSpc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 </a:t>
            </a:r>
          </a:p>
          <a:p>
            <a:pPr>
              <a:lnSpc>
                <a:spcPct val="120000"/>
              </a:lnSpc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D33502-7C64-2E23-82EA-36A291EF8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298" y="1386590"/>
            <a:ext cx="4916774" cy="547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726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6EFF-A91B-E025-E2BB-851A403F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20CF1-8771-EDCA-4F39-1B81A6ECCC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Challenges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image resolutions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ZIP folder structure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disease patterns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mismatch during prediction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computing resources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overfitting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5B747-6BDE-DC09-DF4C-1AE3BF59DC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Solutions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preprocessing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class mapping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dataset split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HOW TO GUIDE 3: Managing Weeds, Pest, &amp; Diseases - Greenpeace Africa">
            <a:extLst>
              <a:ext uri="{FF2B5EF4-FFF2-40B4-BE49-F238E27FC236}">
                <a16:creationId xmlns:a16="http://schemas.microsoft.com/office/drawing/2014/main" id="{BE3A61E7-6385-509C-729C-1CED29E41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942" y="5297714"/>
            <a:ext cx="3947887" cy="147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37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86E6E-3ED3-8715-ED94-955AB8307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MODEL COMPARISON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178E577-AE93-BD75-CBC7-D7D1E438FF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35555"/>
              </p:ext>
            </p:extLst>
          </p:nvPr>
        </p:nvGraphicFramePr>
        <p:xfrm>
          <a:off x="838200" y="1825624"/>
          <a:ext cx="10515597" cy="4339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6227648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5206729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90387854"/>
                    </a:ext>
                  </a:extLst>
                </a:gridCol>
              </a:tblGrid>
              <a:tr h="1050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006179"/>
                  </a:ext>
                </a:extLst>
              </a:tr>
              <a:tr h="1050106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Overfitting, lower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882752"/>
                  </a:ext>
                </a:extLst>
              </a:tr>
              <a:tr h="10501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model, slower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2941"/>
                  </a:ext>
                </a:extLst>
              </a:tr>
              <a:tr h="1050106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Lightweight, fast, accurate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lower complexity than VGG16</a:t>
                      </a:r>
                    </a:p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802255"/>
                  </a:ext>
                </a:extLst>
              </a:tr>
            </a:tbl>
          </a:graphicData>
        </a:graphic>
      </p:graphicFrame>
      <p:pic>
        <p:nvPicPr>
          <p:cNvPr id="9" name="Picture 8" descr="Yellow Leaf Disease: Over 367 Royalty-Free Licensable Stock Illustrations &amp;  Drawings | Shutterstock">
            <a:extLst>
              <a:ext uri="{FF2B5EF4-FFF2-40B4-BE49-F238E27FC236}">
                <a16:creationId xmlns:a16="http://schemas.microsoft.com/office/drawing/2014/main" id="{96F2587F-3852-AAD4-492D-53C0E7EB6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13378"/>
            <a:ext cx="2476500" cy="181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618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960E5-0255-F8F4-C63C-878314D9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BEST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08E78-F1B6-E70D-65E0-D97BAD714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86" y="172334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</a:p>
          <a:p>
            <a:pPr marL="0" indent="0">
              <a:buNone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1.Reasons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overall performance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architecture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inference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memory usage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mobile deployment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generalization on small datasets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99591-4A4B-1862-838E-31D216656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771" y="1404484"/>
            <a:ext cx="5636985" cy="530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19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7CAF6-9010-1D13-98C5-8C24B7A4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6CDDB-219D-2D58-8A80-80B1650A8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1.Real-World Applications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farming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disease detection app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decision support systems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disease diagnosis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monitoring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Leaf Disease Flat Icon, illustration 53308493 Vector Art at Vecteezy">
            <a:extLst>
              <a:ext uri="{FF2B5EF4-FFF2-40B4-BE49-F238E27FC236}">
                <a16:creationId xmlns:a16="http://schemas.microsoft.com/office/drawing/2014/main" id="{7CE57F2C-77D1-5BE0-BB58-4BA50DD63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914" y="3805691"/>
            <a:ext cx="4151086" cy="305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3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2724-8244-7C25-18E6-656DCA49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40502-DD4C-8EA0-4592-941C8172C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1.Future Improvements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larger real-world datasets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more rice diseases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pretrained models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as a web application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Android/iOS application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camera prediction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disease monitoring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6,900+ Rice Leaf Stock Illustrations, Royalty-Free Vector Graphics &amp; Clip Art - iStock">
            <a:extLst>
              <a:ext uri="{FF2B5EF4-FFF2-40B4-BE49-F238E27FC236}">
                <a16:creationId xmlns:a16="http://schemas.microsoft.com/office/drawing/2014/main" id="{2B8962F5-3896-126D-DB77-0623808FB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325" y="3006725"/>
            <a:ext cx="4257675" cy="385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6844-1FC7-5BB8-A41C-07C9C1763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CA1E1-1A0A-B4B9-3733-CC9FAA10E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057"/>
            <a:ext cx="10250714" cy="467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deep learning system for rice leaf disease classification.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preprocessing, augmentation, and exploratory data analysis.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and compared three deep learning models.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achieved the best balance of accuracy, speed, and model size.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significantly improved performance on the small dataset.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can support faster and more accurate disease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detection in precision agriculture.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294AF-4508-5D67-A9F7-3CA8DAE4A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085" y="2184398"/>
            <a:ext cx="1653915" cy="467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5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3DD29-E377-C830-E532-3DE93C42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7" y="365125"/>
            <a:ext cx="11187896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18.MODEL OUTPUT &amp; PREDICTIONS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D0BE9A-E874-B639-1049-962E93BCE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74900"/>
            <a:ext cx="10515600" cy="365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362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4A5E-0958-EF88-3E52-75E99BEA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3772"/>
            <a:ext cx="10515600" cy="2032000"/>
          </a:xfrm>
        </p:spPr>
        <p:txBody>
          <a:bodyPr>
            <a:normAutofit/>
          </a:bodyPr>
          <a:lstStyle/>
          <a:p>
            <a:pPr algn="ctr"/>
            <a:r>
              <a:rPr lang="en-US" sz="11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4CA30-F48F-0C8E-83C5-2CE73E888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3178629"/>
            <a:ext cx="10287000" cy="367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59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951</Words>
  <Application>Microsoft Office PowerPoint</Application>
  <PresentationFormat>Widescreen</PresentationFormat>
  <Paragraphs>247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   Rice Leaf Disease Detection Using Convolutional Neural Networks (CNN)                                           Data Science Capstone Project – PRCP-1001                                                                                Submitted By: Sameeksha </vt:lpstr>
      <vt:lpstr>TABLE OF CONTENTS</vt:lpstr>
      <vt:lpstr>1. PROBLEM STATEMENT</vt:lpstr>
      <vt:lpstr>2. DATASET OVERVIEW</vt:lpstr>
      <vt:lpstr>3. DISEASE CLASSES</vt:lpstr>
      <vt:lpstr>4. PROJECT WORKFLOW</vt:lpstr>
      <vt:lpstr>5. EXPLORATORY DATA ANALYSIS (EDA)</vt:lpstr>
      <vt:lpstr>6. IMAGE PREPROCESSING</vt:lpstr>
      <vt:lpstr>7. TRAIN–VALIDATION–TEST SPLIT</vt:lpstr>
      <vt:lpstr>8. DATA AUGMENTATION</vt:lpstr>
      <vt:lpstr>9. MODELS USED</vt:lpstr>
      <vt:lpstr>10. CNN ARCHITECTURE</vt:lpstr>
      <vt:lpstr>11. TRANSFER LEARNING</vt:lpstr>
      <vt:lpstr>12. CHALLENGES FACED</vt:lpstr>
      <vt:lpstr>13. MODEL COMPARISON</vt:lpstr>
      <vt:lpstr>14. BEST MODEL</vt:lpstr>
      <vt:lpstr>15. APPLICATIONS</vt:lpstr>
      <vt:lpstr>16. FUTURE SCOPE</vt:lpstr>
      <vt:lpstr>17. CONCLUSION</vt:lpstr>
      <vt:lpstr>18.MODEL OUTPUT &amp; PREDICTIONS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Sameeksha Rai</dc:creator>
  <cp:lastModifiedBy>Sameeksha Rai</cp:lastModifiedBy>
  <cp:revision>7</cp:revision>
  <dcterms:created xsi:type="dcterms:W3CDTF">2026-07-22T11:44:15Z</dcterms:created>
  <dcterms:modified xsi:type="dcterms:W3CDTF">2026-07-25T13:51:18Z</dcterms:modified>
</cp:coreProperties>
</file>