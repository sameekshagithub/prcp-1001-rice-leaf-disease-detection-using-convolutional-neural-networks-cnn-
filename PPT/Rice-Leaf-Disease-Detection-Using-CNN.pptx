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embeddedFontLst>
    <p:embeddedFont>
      <p:font typeface="Patrick Hand"/>
      <p:regular r:id="rId2013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6.png"/><Relationship Id="rId7" Type="http://schemas.openxmlformats.org/officeDocument/2006/relationships/image" Target="../media/image-9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2016249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Rice Leaf Disease Detection Using CNN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9023" y="2633365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Science Capstone — PRCP-1001</a:t>
            </a:r>
            <a:endParaRPr lang="en-US" sz="12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Submitted by: Sameeksha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832321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40023" y="1449437"/>
            <a:ext cx="2240310" cy="1600646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03808" y="1613222"/>
            <a:ext cx="1912739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Impact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03808" y="1898675"/>
            <a:ext cx="1912739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Rice leaf diseases cause substantial yield loss globally and directly affect food security and farmer income.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934593" y="1449437"/>
            <a:ext cx="2240384" cy="1600646"/>
          </a:xfrm>
          <a:prstGeom prst="roundRect">
            <a:avLst>
              <a:gd name="adj" fmla="val 4049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98378" y="1613222"/>
            <a:ext cx="1912813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Diagnosis Gap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98378" y="1898675"/>
            <a:ext cx="1912813" cy="987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Manual diagnosis is slow, subjective and requires domain expertise—not scalable for field deployment.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0023" y="3204344"/>
            <a:ext cx="4634954" cy="1106835"/>
          </a:xfrm>
          <a:prstGeom prst="roundRect">
            <a:avLst>
              <a:gd name="adj" fmla="val 5855"/>
            </a:avLst>
          </a:prstGeom>
          <a:solidFill>
            <a:srgbClr val="E6E6E6"/>
          </a:solidFill>
          <a:ln w="9525">
            <a:solidFill>
              <a:srgbClr val="CCCCC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3808" y="3368129"/>
            <a:ext cx="430738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Objective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03808" y="3653582"/>
            <a:ext cx="43073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Develop an automated CNN classifier to identify three major rice leaf diseases from photos.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1067321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Dataset Overview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2036638"/>
            <a:ext cx="2999705" cy="168726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0877" y="1823293"/>
            <a:ext cx="468778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120 images total — perfectly balanced: 40 images per class. Source: DataMites Capstone dataset (Google Drive export).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920877" y="2455962"/>
            <a:ext cx="4687788" cy="8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Bacterial Leaf Blight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long pale stripes along veins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Brown Spot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small round brown lesions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Leaf Smut</a:t>
            </a:r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— tiny dense black speckled dots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3920877" y="3443436"/>
            <a:ext cx="4687788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Images varied in resolution and required consistent preprocessing (resized to 224×224).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476473"/>
            <a:ext cx="4634954" cy="331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Project Pipeline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69023" y="978917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01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3969023" y="1189955"/>
            <a:ext cx="4634954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3969023" y="1284833"/>
            <a:ext cx="4634954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extraction &amp; organisation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969023" y="1518865"/>
            <a:ext cx="463495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Two-stage nested zip extraction, careful folder structure for class labels.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69023" y="1929408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969023" y="2140446"/>
            <a:ext cx="4634954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0" name="Text 7"/>
          <p:cNvSpPr/>
          <p:nvPr/>
        </p:nvSpPr>
        <p:spPr>
          <a:xfrm>
            <a:off x="3969023" y="2235324"/>
            <a:ext cx="4634954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EDA &amp; preprocessing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969023" y="2469356"/>
            <a:ext cx="463495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Inspect resolutions, remove corrupt files, resize to 224×224, normalise pixels.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69023" y="2879899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969023" y="3090937"/>
            <a:ext cx="4634954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4" name="Text 11"/>
          <p:cNvSpPr/>
          <p:nvPr/>
        </p:nvSpPr>
        <p:spPr>
          <a:xfrm>
            <a:off x="3969023" y="3185815"/>
            <a:ext cx="4634954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Split &amp; augment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969023" y="3419847"/>
            <a:ext cx="463495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Single clean split (70/15/15), augmentation only on training data.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969023" y="3830389"/>
            <a:ext cx="265212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04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969023" y="4041428"/>
            <a:ext cx="4634954" cy="14288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18" name="Text 15"/>
          <p:cNvSpPr/>
          <p:nvPr/>
        </p:nvSpPr>
        <p:spPr>
          <a:xfrm>
            <a:off x="3969023" y="4136306"/>
            <a:ext cx="4634954" cy="165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training &amp; comparison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969023" y="4370338"/>
            <a:ext cx="4634954" cy="197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Train 3 models, evaluate on the same held-out test set, select production model.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1374056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Analysis — Key Findings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9023" y="1991171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Class distribution: balanced (40/class). No corrupt images found. Resolutions varied — images standardised to 224×224. Visual differences exist (shape, colour, texture), but the dataset is very small — a primary risk for overfitting.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9023" y="2905423"/>
            <a:ext cx="4634954" cy="864022"/>
          </a:xfrm>
          <a:prstGeom prst="roundRect">
            <a:avLst>
              <a:gd name="adj" fmla="val 7501"/>
            </a:avLst>
          </a:prstGeom>
          <a:solidFill>
            <a:srgbClr val="E6E6E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3283" y="3125167"/>
            <a:ext cx="192881" cy="1542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470425" y="3098229"/>
            <a:ext cx="3979292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Small sample size (120 images) drives modelling and evaluation choices — transfer learning and strong validation are necessary.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820415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Augmentation Strategy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799183"/>
            <a:ext cx="3843784" cy="21621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64956" y="1576388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Purpose: expand effective training variety to mitigate overfitting given ~84 training images.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64956" y="2209056"/>
            <a:ext cx="3843784" cy="1342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Applied transforms: rotation, width/height shift, shear, zoom, horizontal flip, rescaling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Excluded vertical flip to preserve natural leaf orientation</a:t>
            </a:r>
            <a:endParaRPr lang="en-US" sz="1200" dirty="0"/>
          </a:p>
          <a:p>
            <a:pPr algn="l" marL="243840" indent="-243840">
              <a:lnSpc>
                <a:spcPct val="133000"/>
              </a:lnSpc>
              <a:buSzPct val="100000"/>
              <a:buChar char="•"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Augmentation applied only to training dataset; validation/test remain unaugmented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64956" y="3690342"/>
            <a:ext cx="384378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Careful parameter ranges ensured realistic variations without creating label noise.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785664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Development</a:t>
            </a:r>
            <a:endParaRPr lang="en-US" sz="2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402779"/>
            <a:ext cx="385763" cy="38576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18667" y="1402779"/>
            <a:ext cx="40563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Baseline CNN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1118667" y="1688232"/>
            <a:ext cx="405631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Trained from scratch as a benchmark. Fast to iterate but highly prone to overfitting on small data.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0023" y="2490639"/>
            <a:ext cx="385763" cy="38576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18667" y="2490639"/>
            <a:ext cx="40563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VGG16 (Transfer Learning)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118667" y="2776091"/>
            <a:ext cx="405631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Frozen ImageNet base with custom classifier head. Strong accuracy but large parameter count and slow inference.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023" y="3578498"/>
            <a:ext cx="385763" cy="38576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18667" y="3578498"/>
            <a:ext cx="405631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MobileNetV2 (Transfer Learning)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1118667" y="3863950"/>
            <a:ext cx="405631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Lightweight, efficient architecture. Best balance between accuracy, size and inference speed — recommended for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2378869"/>
            <a:ext cx="8063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0023" y="457423"/>
            <a:ext cx="4634954" cy="373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Why Early Predictions Were Unreliable</a:t>
            </a:r>
            <a:endParaRPr lang="en-US" sz="23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023" y="1048345"/>
            <a:ext cx="2245072" cy="198187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72890" y="1160413"/>
            <a:ext cx="179338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08496" y="1646262"/>
            <a:ext cx="190812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Overfitting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708496" y="1919957"/>
            <a:ext cx="1908125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Baseline CNN memorised training images due to very small dataset.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9905" y="1048345"/>
            <a:ext cx="2245072" cy="198187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62772" y="1160413"/>
            <a:ext cx="179338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3098378" y="1646262"/>
            <a:ext cx="1908125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Label-index mismatch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3098378" y="1919957"/>
            <a:ext cx="1908125" cy="941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Class indices were hardcoded rather than dynamically read from the generator, causing incorrect mapping of outputs to labels.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0023" y="3175025"/>
            <a:ext cx="4634954" cy="151097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767831" y="3287092"/>
            <a:ext cx="179338" cy="2242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708496" y="3772942"/>
            <a:ext cx="4298007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leakage risk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708496" y="4046637"/>
            <a:ext cx="4298007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Multiple train/test splits performed accidentally; resolved by performing a single clean split prior to augmentation.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69023" y="575444"/>
            <a:ext cx="4634954" cy="38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Model Comparison &amp; Results Summary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69023" y="1192560"/>
            <a:ext cx="4634954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All models evaluated on the same held-out test set using accuracy, precision, recall, F1-score, training time and parameter count.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3969023" y="1941909"/>
            <a:ext cx="77093" cy="77093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6" name="Text 3"/>
          <p:cNvSpPr/>
          <p:nvPr/>
        </p:nvSpPr>
        <p:spPr>
          <a:xfrm>
            <a:off x="4200376" y="1859905"/>
            <a:ext cx="440360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Baseline CNN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200376" y="2145357"/>
            <a:ext cx="4403601" cy="246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Lowest accuracy; fast training but poor generalisation.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969023" y="2782863"/>
            <a:ext cx="77093" cy="77093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9" name="Text 6"/>
          <p:cNvSpPr/>
          <p:nvPr/>
        </p:nvSpPr>
        <p:spPr>
          <a:xfrm>
            <a:off x="4200376" y="2700858"/>
            <a:ext cx="440360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VGG16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200376" y="2986311"/>
            <a:ext cx="440360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High accuracy but heavy and slow; suitable when accuracy outweighs resource constraints.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969023" y="3870722"/>
            <a:ext cx="77093" cy="77093"/>
          </a:xfrm>
          <a:prstGeom prst="ellipse">
            <a:avLst/>
          </a:prstGeom>
          <a:solidFill>
            <a:srgbClr val="CCCCCC"/>
          </a:solidFill>
          <a:ln/>
        </p:spPr>
      </p:sp>
      <p:sp>
        <p:nvSpPr>
          <p:cNvPr id="12" name="Text 9"/>
          <p:cNvSpPr/>
          <p:nvPr/>
        </p:nvSpPr>
        <p:spPr>
          <a:xfrm>
            <a:off x="4200376" y="3788718"/>
            <a:ext cx="440360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MobileNetV2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200376" y="4074170"/>
            <a:ext cx="4403601" cy="4938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Strong accuracy with small footprint and fast inference — best trade-off for production deployment.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023" y="455935"/>
            <a:ext cx="8063954" cy="3375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Conclusions, Recommendations &amp; Next Steps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023" y="1623417"/>
            <a:ext cx="4286920" cy="2411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61062" y="1076920"/>
            <a:ext cx="3447604" cy="607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Conclusion: Implemented augmentation and transfer learning to overcome small-sample limitations; MobileNetV2 recommended for production.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161062" y="1790626"/>
            <a:ext cx="3447604" cy="194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3360" indent="-21336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Production: Deploy MobileNetV2 in a lightweight mobile/web app for in-field diagnosis.</a:t>
            </a:r>
            <a:endParaRPr lang="en-US" sz="1050" dirty="0"/>
          </a:p>
          <a:p>
            <a:pPr algn="l" marL="213360" indent="-21336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Data: Prioritise collecting a larger, geographically diverse dataset with controlled labelling to reduce class confusion.</a:t>
            </a:r>
            <a:endParaRPr lang="en-US" sz="1050" dirty="0"/>
          </a:p>
          <a:p>
            <a:pPr algn="l" marL="213360" indent="-21336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Evaluation: Use cross-validation and external validation sets; report per-class precision/recall to detect confusion patterns.</a:t>
            </a:r>
            <a:endParaRPr lang="en-US" sz="1050" dirty="0"/>
          </a:p>
          <a:p>
            <a:pPr algn="l" marL="213360" indent="-213360">
              <a:lnSpc>
                <a:spcPct val="125000"/>
              </a:lnSpc>
              <a:buSzPct val="100000"/>
              <a:buChar char="•"/>
            </a:pPr>
            <a:r>
              <a:rPr lang="en-US" sz="1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Engineering: Quantise and optimise MobileNetV2 for on-device inference; implement on-device preprocessing to standardise images.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161062" y="3869754"/>
            <a:ext cx="3447604" cy="684907"/>
          </a:xfrm>
          <a:prstGeom prst="roundRect">
            <a:avLst>
              <a:gd name="adj" fmla="val 8280"/>
            </a:avLst>
          </a:prstGeom>
          <a:solidFill>
            <a:srgbClr val="E6E6E6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6049" y="4067919"/>
            <a:ext cx="168771" cy="134987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599807" y="4009727"/>
            <a:ext cx="2873871" cy="404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Future work: active learning pipeline to collect misclassified samples and iteratively improve the model.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2026-07-22T11:04:16Z</dcterms:created>
  <dcterms:modified xsi:type="dcterms:W3CDTF">2026-07-22T11:04:16Z</dcterms:modified>
</cp:coreProperties>
</file>